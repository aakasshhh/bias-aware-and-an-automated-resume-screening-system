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8" r:id="rId9"/>
    <p:sldId id="279" r:id="rId10"/>
    <p:sldId id="280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sh Jain" initials="AJ" lastIdx="1" clrIdx="0">
    <p:extLst>
      <p:ext uri="{19B8F6BF-5375-455C-9EA6-DF929625EA0E}">
        <p15:presenceInfo xmlns:p15="http://schemas.microsoft.com/office/powerpoint/2012/main" userId="63b56715352b5e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3273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/>
              <a:t>Bias-Aware and Explainable AI Framework for Automated Resume Screening</a:t>
            </a:r>
            <a:endParaRPr lang="en-US" sz="36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Aakash Jain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2210990008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CSE</a:t>
            </a:r>
          </a:p>
          <a:p>
            <a:pPr algn="ctr"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273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CE95-E211-74D8-9928-CD9FD76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E1115-2DA0-CF15-AE5A-FAB9D4CFA35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14040"/>
            <a:ext cx="8229240" cy="5548306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framework for automated resume screening.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and Machine Learning for candidate evaluation.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skills, education, and experience from resumes.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bias mitigation techniques for fair hiring.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improves transparency of predictions.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used for classification.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reliable accuracy with reduced bias score. 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Recruitment, Resume Screening, NLP, Bias Mitigation, Explainable AI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1263-218D-E233-9A38-0B1E32FE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9D3D-F42E-A125-D1BD-3F7DF5B6F7F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668215"/>
            <a:ext cx="8229240" cy="5495193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receive thousands of resumes for job openings.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is time-consuming and inconsistent.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recruitment methods may introduce bias. 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hiring systems may inherit bias from historical data.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reduces trust in automated decisions.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fair and explainable recruitment systems.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0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6773-C2BF-0B00-CE11-3D676A50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CAAB5-9C17-C10A-91D2-C1B309A6BBD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518746"/>
            <a:ext cx="8229240" cy="6339253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resume screening using AI and ML.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resume features using NLP.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bias in candidate evaluation.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using Explainable AI.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recruitment efficiency and consistency. 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Limitations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technical and non-technical resumes.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mainly on text-based resume analysis.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synthetic/public resume datasets.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4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48DC-6F5D-20FD-6FAA-8FA3F4F6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8490F-DA62-A4B6-26B3-1BC8D15EC3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503485"/>
            <a:ext cx="8229240" cy="4835769"/>
          </a:xfrm>
        </p:spPr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dataset collected from public/synthetic sources.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 tokenization, stop-word removal.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for text representation.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sensitive attributes.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used for classification.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 for transparency.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3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4E0EF9-17E2-2768-8454-E2754EB807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0" t="1660" r="23974" b="16505"/>
          <a:stretch>
            <a:fillRect/>
          </a:stretch>
        </p:blipFill>
        <p:spPr bwMode="auto">
          <a:xfrm>
            <a:off x="2462213" y="995945"/>
            <a:ext cx="2821965" cy="52327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D9DC50-613C-3052-C603-E4213104E5E6}"/>
              </a:ext>
            </a:extLst>
          </p:cNvPr>
          <p:cNvSpPr txBox="1"/>
          <p:nvPr/>
        </p:nvSpPr>
        <p:spPr>
          <a:xfrm>
            <a:off x="5512778" y="5091752"/>
            <a:ext cx="3147645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en-IN" sz="12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The figure represents the overall workflow of the proposed resume screening system, including data collection, preprocessing, feature extraction, bias mitigation, machine learning prediction, and explainable AI analysis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50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41D1-9014-8836-4FE6-C035D9F5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A6E1-48EF-78C6-AB55-091A841F4F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7731" y="1301260"/>
            <a:ext cx="8229240" cy="4403631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9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66A5-D2B2-C5ED-8E43-368802FA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24ADD-87C7-8102-CBC3-3099A5D8B1F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7053" y="228600"/>
            <a:ext cx="8229240" cy="5961184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9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C2-3364-4DB2-3FF0-9E03E3F1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972B5-3B85-7AD9-7BE0-05FD95E6FF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151791"/>
            <a:ext cx="8229240" cy="4870939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Pipeline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→ Preprocess Data → TF-IDF Vectorization → Train Model → Prediction → Explainability Analysis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 80:20 ratio.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trained using Scikit-learn.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classified based on candidate suitability.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identified using feature importance analysis.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596BE-7D4A-5D34-5AA8-001A06940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0" y="5663917"/>
            <a:ext cx="8686620" cy="3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1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FDC9-B958-7115-9ADC-C8E4CE33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8D25E-5CD4-2245-C94A-278E7ABCFC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8261" y="800100"/>
            <a:ext cx="8845061" cy="6277708"/>
          </a:xfrm>
        </p:spPr>
        <p:txBody>
          <a:bodyPr/>
          <a:lstStyle/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5417FA-504D-58D7-D95D-26C989494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312591"/>
              </p:ext>
            </p:extLst>
          </p:nvPr>
        </p:nvGraphicFramePr>
        <p:xfrm>
          <a:off x="1750864" y="1478865"/>
          <a:ext cx="5483650" cy="1950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1825">
                  <a:extLst>
                    <a:ext uri="{9D8B030D-6E8A-4147-A177-3AD203B41FA5}">
                      <a16:colId xmlns:a16="http://schemas.microsoft.com/office/drawing/2014/main" val="1136451584"/>
                    </a:ext>
                  </a:extLst>
                </a:gridCol>
                <a:gridCol w="2741825">
                  <a:extLst>
                    <a:ext uri="{9D8B030D-6E8A-4147-A177-3AD203B41FA5}">
                      <a16:colId xmlns:a16="http://schemas.microsoft.com/office/drawing/2014/main" val="884757045"/>
                    </a:ext>
                  </a:extLst>
                </a:gridCol>
              </a:tblGrid>
              <a:tr h="32800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064177"/>
                  </a:ext>
                </a:extLst>
              </a:tr>
              <a:tr h="41531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86.5%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95055"/>
                  </a:ext>
                </a:extLst>
              </a:tr>
              <a:tr h="31169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738166"/>
                  </a:ext>
                </a:extLst>
              </a:tr>
              <a:tr h="437545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438136"/>
                  </a:ext>
                </a:extLst>
              </a:tr>
              <a:tr h="360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91962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7219543-9752-276D-9BFA-BA84F7C533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942" b="2845"/>
          <a:stretch>
            <a:fillRect/>
          </a:stretch>
        </p:blipFill>
        <p:spPr bwMode="auto">
          <a:xfrm>
            <a:off x="453584" y="3692769"/>
            <a:ext cx="3240459" cy="2689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3E0193-4982-BD17-4A82-8603E0FA2DB7}"/>
              </a:ext>
            </a:extLst>
          </p:cNvPr>
          <p:cNvSpPr txBox="1"/>
          <p:nvPr/>
        </p:nvSpPr>
        <p:spPr>
          <a:xfrm>
            <a:off x="3793521" y="4857273"/>
            <a:ext cx="3385038" cy="152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The table displays the classification performance metrics including accuracy, precision, recall, and F1-score obtained after model evaluation.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6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70F6-E3F5-0D13-108E-1E1A913F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839C1-7ADA-4D77-A6EB-C5C47B310B2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508" y="826477"/>
            <a:ext cx="8580932" cy="5407269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Mitigation:</a:t>
            </a:r>
          </a:p>
          <a:p>
            <a:pPr marL="0" indent="0">
              <a:buNone/>
            </a:pP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Mitigation: 0.31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Mitigation: 0.14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recruitment efficiency.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 improves fairness.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increases trust in predictions.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D05970-7251-ED15-8839-0CF1EBDE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1" y="3920195"/>
            <a:ext cx="3823628" cy="2671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03119-9C0A-54E3-58DF-AC2F8E63F9BE}"/>
              </a:ext>
            </a:extLst>
          </p:cNvPr>
          <p:cNvSpPr txBox="1"/>
          <p:nvPr/>
        </p:nvSpPr>
        <p:spPr>
          <a:xfrm>
            <a:off x="4255477" y="4697057"/>
            <a:ext cx="3691111" cy="189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The figure shows the prediction output generated by the model for resume classification. The system analyzes resume features and predicts the candidate’s suitability for the given job role.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C0D6-A442-0E76-FD60-1A824DEA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73048-AF9C-0E86-9AA8-D469133CFBA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130" y="1055077"/>
            <a:ext cx="8607309" cy="5292969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resume screening improves hiring efficiency.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Bias-aware framework ensures fair evaluation.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improves transparency and trust.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achieved reliable classification performance.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 for better accuracy.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Applicant Tracking Systems (ATS).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 in recruitment platforms.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fairness and explainability techniques.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DCEE-9E49-A1F7-08EF-07A62075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CF04A-14B0-EE3F-7ED3-3A9F6417922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-1134208"/>
            <a:ext cx="8229240" cy="6716008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Research Papers on AI Recruitment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Research Articles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Research Papers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in Machine Learning Studies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65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34749</TotalTime>
  <Words>639</Words>
  <Application>Microsoft Office PowerPoint</Application>
  <PresentationFormat>On-screen Show (4:3)</PresentationFormat>
  <Paragraphs>160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Abstract</vt:lpstr>
      <vt:lpstr>Introduction</vt:lpstr>
      <vt:lpstr>Objectives &amp; Scope</vt:lpstr>
      <vt:lpstr>Methodology</vt:lpstr>
      <vt:lpstr>PowerPoint Presentation</vt:lpstr>
      <vt:lpstr>Tools &amp; Technologies</vt:lpstr>
      <vt:lpstr>Tools and Technologies</vt:lpstr>
      <vt:lpstr>Implementation</vt:lpstr>
      <vt:lpstr>Major Findings / Results</vt:lpstr>
      <vt:lpstr>Major Findings / Results</vt:lpstr>
      <vt:lpstr>Conclusion &amp;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Aakash Jain</cp:lastModifiedBy>
  <cp:revision>2301</cp:revision>
  <dcterms:created xsi:type="dcterms:W3CDTF">2010-04-09T07:36:15Z</dcterms:created>
  <dcterms:modified xsi:type="dcterms:W3CDTF">2026-05-07T06:48:04Z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